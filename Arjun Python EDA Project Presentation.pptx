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303" r:id="rId7"/>
    <p:sldId id="261" r:id="rId8"/>
    <p:sldId id="304" r:id="rId9"/>
    <p:sldId id="262" r:id="rId10"/>
    <p:sldId id="305" r:id="rId11"/>
    <p:sldId id="263" r:id="rId12"/>
    <p:sldId id="306" r:id="rId13"/>
    <p:sldId id="264" r:id="rId14"/>
    <p:sldId id="265" r:id="rId15"/>
    <p:sldId id="266" r:id="rId16"/>
    <p:sldId id="269" r:id="rId17"/>
    <p:sldId id="267" r:id="rId18"/>
    <p:sldId id="268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96" r:id="rId33"/>
    <p:sldId id="297" r:id="rId34"/>
    <p:sldId id="298" r:id="rId35"/>
    <p:sldId id="300" r:id="rId36"/>
    <p:sldId id="301" r:id="rId37"/>
    <p:sldId id="302" r:id="rId38"/>
    <p:sldId id="289" r:id="rId39"/>
    <p:sldId id="290" r:id="rId40"/>
    <p:sldId id="307" r:id="rId41"/>
    <p:sldId id="291" r:id="rId42"/>
    <p:sldId id="292" r:id="rId43"/>
    <p:sldId id="293" r:id="rId44"/>
    <p:sldId id="294" r:id="rId45"/>
    <p:sldId id="295" r:id="rId46"/>
    <p:sldId id="284" r:id="rId47"/>
    <p:sldId id="308" r:id="rId48"/>
    <p:sldId id="285" r:id="rId49"/>
    <p:sldId id="288" r:id="rId50"/>
  </p:sldIdLst>
  <p:sldSz cx="12192000" cy="6858000"/>
  <p:notesSz cx="6858000" cy="9144000"/>
  <p:embeddedFontLst>
    <p:embeddedFont>
      <p:font typeface="Lato Black" panose="020F0502020204030203" pitchFamily="34" charset="0"/>
      <p:bold r:id="rId52"/>
      <p:boldItalic r:id="rId53"/>
    </p:embeddedFont>
    <p:embeddedFont>
      <p:font typeface="Libre Baskerville" panose="02000000000000000000" pitchFamily="2" charset="0"/>
      <p:regular r:id="rId54"/>
      <p:bold r:id="rId55"/>
      <p: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5FE3E31-5B21-4775-88BB-626BB4A034EB}">
          <p14:sldIdLst>
            <p14:sldId id="256"/>
            <p14:sldId id="257"/>
            <p14:sldId id="258"/>
            <p14:sldId id="259"/>
            <p14:sldId id="260"/>
            <p14:sldId id="303"/>
            <p14:sldId id="261"/>
            <p14:sldId id="304"/>
            <p14:sldId id="262"/>
            <p14:sldId id="305"/>
            <p14:sldId id="263"/>
            <p14:sldId id="306"/>
            <p14:sldId id="264"/>
            <p14:sldId id="265"/>
            <p14:sldId id="266"/>
            <p14:sldId id="269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96"/>
            <p14:sldId id="297"/>
            <p14:sldId id="298"/>
            <p14:sldId id="300"/>
            <p14:sldId id="301"/>
            <p14:sldId id="302"/>
            <p14:sldId id="289"/>
            <p14:sldId id="290"/>
            <p14:sldId id="307"/>
            <p14:sldId id="291"/>
            <p14:sldId id="292"/>
            <p14:sldId id="293"/>
            <p14:sldId id="294"/>
            <p14:sldId id="295"/>
            <p14:sldId id="284"/>
            <p14:sldId id="308"/>
            <p14:sldId id="285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nFQsu0qTBRZ+C47HNp0tuHCNk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jun Naluvala" initials="AN" lastIdx="1" clrIdx="0">
    <p:extLst>
      <p:ext uri="{19B8F6BF-5375-455C-9EA6-DF929625EA0E}">
        <p15:presenceInfo xmlns:p15="http://schemas.microsoft.com/office/powerpoint/2012/main" userId="cd45fcbd7d4ff5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B854286-DEA0-4E4F-9751-A670663AF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93501ECB-D827-65C8-05D1-FCF5FBE6F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8908106-9034-C5EC-CA88-5EDF46F82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52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1689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18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25840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B83DC7-6ECD-6C14-644E-5959FAD9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66128"/>
            <a:ext cx="10515600" cy="2196347"/>
          </a:xfrm>
        </p:spPr>
        <p:txBody>
          <a:bodyPr>
            <a:normAutofit/>
          </a:bodyPr>
          <a:lstStyle/>
          <a:p>
            <a:r>
              <a:rPr lang="en-IN" dirty="0"/>
              <a:t>               IPL Data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F85A5-AA34-AE32-A8ED-D91A60B2C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lang="en-IN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IN" b="1" dirty="0">
                <a:solidFill>
                  <a:schemeClr val="tx1"/>
                </a:solidFill>
              </a:rPr>
              <a:t>Arjun Naluvala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510540" y="688818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dirty="0">
                <a:solidFill>
                  <a:schemeClr val="tx1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6C602-D35D-8944-B3A4-D8BD0D77E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540" y="1125820"/>
            <a:ext cx="8115300" cy="134306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MBA graduate with interest in analytics and technology and          Interested in understanding business problems using data</a:t>
            </a:r>
            <a:br>
              <a:rPr lang="en-US" sz="2400" dirty="0"/>
            </a:br>
            <a:endParaRPr lang="en-IN" sz="2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592C469-6E5B-B76A-2269-1B18C4C7A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2468880"/>
            <a:ext cx="10881360" cy="339852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tx1"/>
                </a:solidFill>
              </a:rPr>
              <a:t> Why Data Analytics</a:t>
            </a:r>
          </a:p>
          <a:p>
            <a:pPr lvl="1"/>
            <a:endParaRPr lang="en-IN" b="1" dirty="0">
              <a:solidFill>
                <a:srgbClr val="FF0000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 chose Data Analytics because I enjoy working with numbers and understanding patterns in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I like analyzing information and finding meaningful insights from 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Data analytics helps businesses make better decisions based on real data instead of assumptions.</a:t>
            </a:r>
            <a:br>
              <a:rPr lang="en-US" dirty="0"/>
            </a:br>
            <a:endParaRPr lang="en-US" dirty="0"/>
          </a:p>
          <a:p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19760" y="312420"/>
            <a:ext cx="104648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br>
              <a:rPr lang="en-US" sz="3100" b="1" dirty="0"/>
            </a:br>
            <a:r>
              <a:rPr lang="en-US" sz="3100" b="1" dirty="0"/>
              <a:t>Introduction to the Speaker</a:t>
            </a:r>
            <a:br>
              <a:rPr lang="en-US" b="1" dirty="0"/>
            </a:br>
            <a:r>
              <a:rPr lang="en-US" sz="2700" dirty="0"/>
              <a:t>Arjun Naluvala</a:t>
            </a:r>
            <a:br>
              <a:rPr lang="en-US" sz="2700" dirty="0"/>
            </a:br>
            <a:r>
              <a:rPr lang="en-US" sz="2700" dirty="0"/>
              <a:t>Batch No: 477</a:t>
            </a:r>
            <a:br>
              <a:rPr lang="en-US" sz="2700" dirty="0"/>
            </a:br>
            <a:r>
              <a:rPr lang="en-US" sz="2700" dirty="0"/>
              <a:t>Data Analytics</a:t>
            </a:r>
            <a:br>
              <a:rPr lang="en-US" sz="2700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sz="2800" b="1" dirty="0"/>
              <a:t>Objectives of the Session</a:t>
            </a:r>
            <a:br>
              <a:rPr lang="en-US" sz="4000" b="1" dirty="0"/>
            </a:br>
            <a:br>
              <a:rPr lang="en-US" b="1" dirty="0"/>
            </a:br>
            <a:endParaRPr sz="31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25312" y="2667000"/>
            <a:ext cx="10596688" cy="259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    </a:t>
            </a:r>
          </a:p>
          <a:p>
            <a:r>
              <a:rPr lang="en-US" sz="2600" dirty="0"/>
              <a:t>Understand the structure of IPL ball-by-ball dataset</a:t>
            </a:r>
          </a:p>
          <a:p>
            <a:r>
              <a:rPr lang="en-US" sz="2600" dirty="0"/>
              <a:t>Perform data cleaning and preprocessing</a:t>
            </a:r>
          </a:p>
          <a:p>
            <a:r>
              <a:rPr lang="en-US" sz="2600" dirty="0"/>
              <a:t>Apply univariate, bivariate, and multivariate analysis</a:t>
            </a:r>
          </a:p>
          <a:p>
            <a:r>
              <a:rPr lang="en-US" sz="2600" dirty="0"/>
              <a:t>Extract meaningful insights using visualization techniques</a:t>
            </a:r>
          </a:p>
          <a:p>
            <a:pPr marL="554990" lvl="1" indent="0">
              <a:buSzPct val="100000"/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398780" y="322580"/>
            <a:ext cx="10812780" cy="7185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/>
              <a:t>Introduction</a:t>
            </a:r>
          </a:p>
          <a:p>
            <a:endParaRPr lang="en-US" sz="2800" b="1" dirty="0"/>
          </a:p>
          <a:p>
            <a:r>
              <a:rPr lang="en-US" sz="2800" b="1" dirty="0"/>
              <a:t>Brief Overview of the Problem Statement</a:t>
            </a:r>
          </a:p>
          <a:p>
            <a:endParaRPr lang="en-US" sz="1800" b="1" dirty="0"/>
          </a:p>
          <a:p>
            <a:r>
              <a:rPr lang="en-US" sz="2400" dirty="0"/>
              <a:t>The objective of this project is to perform Exploratory Data Analysis (EDA) on the IPL ball-by-ball dataset. The dataset contains detailed information about matches, teams, players, and match outcomes.</a:t>
            </a:r>
          </a:p>
          <a:p>
            <a:r>
              <a:rPr lang="en-US" sz="2400" dirty="0"/>
              <a:t>The main goal is to clean the dataset, understand its structure, and analyze scoring patterns, match-winning trends, and player performance using Python. Through this analysis, meaningful insights are extracted to understand how data can support performance evaluation and decision-making.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31039-28FC-9F0F-19A1-82EBE02F73C5}"/>
              </a:ext>
            </a:extLst>
          </p:cNvPr>
          <p:cNvSpPr txBox="1"/>
          <p:nvPr/>
        </p:nvSpPr>
        <p:spPr>
          <a:xfrm>
            <a:off x="3048000" y="3182779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IN" dirty="0"/>
              <a:t>Dataset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7E0B30E-FABF-3F58-D785-DF3B34DD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3786F3CA-6B60-AE60-C774-06823EC4FCDE}"/>
              </a:ext>
            </a:extLst>
          </p:cNvPr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1C97D-ECE0-CC3E-7E7F-69D43FB10807}"/>
              </a:ext>
            </a:extLst>
          </p:cNvPr>
          <p:cNvSpPr txBox="1"/>
          <p:nvPr/>
        </p:nvSpPr>
        <p:spPr>
          <a:xfrm>
            <a:off x="259080" y="673486"/>
            <a:ext cx="108432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Dataset Information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800" b="1" dirty="0"/>
              <a:t>Dataset Description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The dataset used in this project is the IPL ball-by-ball dataset.</a:t>
            </a:r>
            <a:br>
              <a:rPr lang="en-US" sz="2400" dirty="0"/>
            </a:br>
            <a:r>
              <a:rPr lang="en-US" sz="2400" dirty="0"/>
              <a:t>It contains detailed information about every delivery in IPL matches, including match details, team information, player performance, runs scored, wickets taken, venue details, and match results.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Each row in the dataset represents a single ball event, making it suitable for detailed performance and trend analysis.</a:t>
            </a:r>
          </a:p>
          <a:p>
            <a:pPr>
              <a:buNone/>
            </a:pPr>
            <a:r>
              <a:rPr lang="en-US" sz="2400" dirty="0"/>
              <a:t>The dataset contains:</a:t>
            </a:r>
          </a:p>
          <a:p>
            <a:pPr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278,205 rows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64 columns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3708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D95ED-59DE-0FBA-5A3A-568A8960A6D8}"/>
              </a:ext>
            </a:extLst>
          </p:cNvPr>
          <p:cNvSpPr txBox="1"/>
          <p:nvPr/>
        </p:nvSpPr>
        <p:spPr>
          <a:xfrm>
            <a:off x="609600" y="815965"/>
            <a:ext cx="91744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Source / Platform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Source: </a:t>
            </a:r>
            <a:r>
              <a:rPr lang="en-IN" sz="2400" b="1" dirty="0"/>
              <a:t>Kaggle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Format: CSV (Comma-Separated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Type: Structured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Category: Sports Analytics / Event-Level Data</a:t>
            </a:r>
          </a:p>
        </p:txBody>
      </p:sp>
    </p:spTree>
    <p:extLst>
      <p:ext uri="{BB962C8B-B14F-4D97-AF65-F5344CB8AC3E}">
        <p14:creationId xmlns:p14="http://schemas.microsoft.com/office/powerpoint/2010/main" val="184304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D61C4-FE74-0FB1-BE28-A96E44637E97}"/>
              </a:ext>
            </a:extLst>
          </p:cNvPr>
          <p:cNvSpPr txBox="1"/>
          <p:nvPr/>
        </p:nvSpPr>
        <p:spPr>
          <a:xfrm>
            <a:off x="595461" y="433633"/>
            <a:ext cx="10226511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Understanding the Dataset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800" b="1" dirty="0"/>
              <a:t>Explanation of Columns</a:t>
            </a:r>
          </a:p>
          <a:p>
            <a:pPr>
              <a:buNone/>
            </a:pPr>
            <a:r>
              <a:rPr lang="en-US" sz="2400" dirty="0"/>
              <a:t>The IPL ball-by-ball dataset contains multiple columns representing match-level, team-level, and player-level information.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Some important columns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match_id</a:t>
            </a:r>
            <a:r>
              <a:rPr lang="en-US" sz="2400" dirty="0"/>
              <a:t> – Unique identifier for each 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date</a:t>
            </a:r>
            <a:r>
              <a:rPr lang="en-US" sz="2400" dirty="0"/>
              <a:t> – Date of the 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batting_team</a:t>
            </a:r>
            <a:r>
              <a:rPr lang="en-US" sz="2400" dirty="0"/>
              <a:t> – Team currently batting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bowling_team</a:t>
            </a:r>
            <a:r>
              <a:rPr lang="en-US" sz="2400" dirty="0"/>
              <a:t> – Team currently bowling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over</a:t>
            </a:r>
            <a:r>
              <a:rPr lang="en-US" sz="2400" dirty="0"/>
              <a:t> – Over number in the match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batter</a:t>
            </a:r>
            <a:r>
              <a:rPr lang="en-US" sz="2400" dirty="0"/>
              <a:t> – Name of the batsman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bowler</a:t>
            </a:r>
            <a:r>
              <a:rPr lang="en-US" sz="2400" dirty="0"/>
              <a:t> – Name of the bowler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runs_batter</a:t>
            </a:r>
            <a:r>
              <a:rPr lang="en-US" sz="2400" dirty="0"/>
              <a:t> – Runs scored by the batter on that ball</a:t>
            </a:r>
          </a:p>
        </p:txBody>
      </p:sp>
    </p:spTree>
    <p:extLst>
      <p:ext uri="{BB962C8B-B14F-4D97-AF65-F5344CB8AC3E}">
        <p14:creationId xmlns:p14="http://schemas.microsoft.com/office/powerpoint/2010/main" val="2280359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409D9F-98A1-65F3-0A13-8D7159303A63}"/>
              </a:ext>
            </a:extLst>
          </p:cNvPr>
          <p:cNvSpPr txBox="1"/>
          <p:nvPr/>
        </p:nvSpPr>
        <p:spPr>
          <a:xfrm>
            <a:off x="680720" y="887383"/>
            <a:ext cx="10129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runs_total</a:t>
            </a:r>
            <a:r>
              <a:rPr lang="en-US" sz="2400" dirty="0"/>
              <a:t> – Total runs scored on that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wicket_kind</a:t>
            </a:r>
            <a:r>
              <a:rPr lang="en-US" sz="2400" dirty="0"/>
              <a:t> – Type of dismissal (if any)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venue</a:t>
            </a:r>
            <a:r>
              <a:rPr lang="en-US" sz="2400" dirty="0"/>
              <a:t> – Stadium where the match was played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season</a:t>
            </a:r>
            <a:r>
              <a:rPr lang="en-US" sz="2400" dirty="0"/>
              <a:t> – IPL season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</a:rPr>
              <a:t>match_won_by</a:t>
            </a:r>
            <a:r>
              <a:rPr lang="en-US" sz="2400" dirty="0"/>
              <a:t> – Method of winning (Runs or Wickets)</a:t>
            </a:r>
          </a:p>
          <a:p>
            <a:pPr>
              <a:buNone/>
            </a:pPr>
            <a:r>
              <a:rPr lang="en-US" sz="2400" dirty="0"/>
              <a:t>   Each row represents a single ball event.</a:t>
            </a:r>
          </a:p>
        </p:txBody>
      </p:sp>
    </p:spTree>
    <p:extLst>
      <p:ext uri="{BB962C8B-B14F-4D97-AF65-F5344CB8AC3E}">
        <p14:creationId xmlns:p14="http://schemas.microsoft.com/office/powerpoint/2010/main" val="308162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BC58C3-897F-1CBE-4C58-F49941892FDC}"/>
              </a:ext>
            </a:extLst>
          </p:cNvPr>
          <p:cNvSpPr txBox="1"/>
          <p:nvPr/>
        </p:nvSpPr>
        <p:spPr>
          <a:xfrm>
            <a:off x="698006" y="751841"/>
            <a:ext cx="1031543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Target Variable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The selected target variable for this analysis is: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 err="1">
                <a:latin typeface="Courier New" panose="02070309020205020404" pitchFamily="49" charset="0"/>
              </a:rPr>
              <a:t>Match_won_by</a:t>
            </a:r>
            <a:endParaRPr lang="en-US" sz="2400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This variable represents how a match was won (by runs or wickets).</a:t>
            </a:r>
            <a:br>
              <a:rPr lang="en-US" sz="2400" dirty="0"/>
            </a:br>
            <a:r>
              <a:rPr lang="en-US" sz="2400" dirty="0"/>
              <a:t>It is used to analyze match outcome distribution and check class imbalance.</a:t>
            </a:r>
          </a:p>
        </p:txBody>
      </p:sp>
    </p:spTree>
    <p:extLst>
      <p:ext uri="{BB962C8B-B14F-4D97-AF65-F5344CB8AC3E}">
        <p14:creationId xmlns:p14="http://schemas.microsoft.com/office/powerpoint/2010/main" val="59931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87264-CFEE-BFBD-F2AB-24A733A87A38}"/>
              </a:ext>
            </a:extLst>
          </p:cNvPr>
          <p:cNvSpPr txBox="1"/>
          <p:nvPr/>
        </p:nvSpPr>
        <p:spPr>
          <a:xfrm>
            <a:off x="467360" y="603835"/>
            <a:ext cx="1040384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b="1" dirty="0"/>
              <a:t>Initial Observations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400" dirty="0"/>
              <a:t>The dataset contains 278,205 rows and 64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Some columns contain missing values, especially event-based fields like                                      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 err="1">
                <a:latin typeface="Courier New" panose="02070309020205020404" pitchFamily="49" charset="0"/>
              </a:rPr>
              <a:t>wicket_kind</a:t>
            </a:r>
            <a:r>
              <a:rPr lang="en-US" sz="2400" dirty="0">
                <a:latin typeface="Courier New" panose="02070309020205020404" pitchFamily="49" charset="0"/>
              </a:rPr>
              <a:t> </a:t>
            </a:r>
            <a:r>
              <a:rPr lang="en-US" sz="2400" dirty="0"/>
              <a:t>and </a:t>
            </a:r>
            <a:r>
              <a:rPr lang="en-US" sz="2400" dirty="0" err="1">
                <a:latin typeface="Courier New" panose="02070309020205020404" pitchFamily="49" charset="0"/>
              </a:rPr>
              <a:t>extra_type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No duplicate records were found.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The dataset is structured and suitable for detailed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380570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E4B0D1-CFB7-2861-FDEF-D399B2E86401}"/>
              </a:ext>
            </a:extLst>
          </p:cNvPr>
          <p:cNvSpPr txBox="1"/>
          <p:nvPr/>
        </p:nvSpPr>
        <p:spPr>
          <a:xfrm>
            <a:off x="612743" y="464437"/>
            <a:ext cx="1013381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 Cleaning &amp; Preparation</a:t>
            </a:r>
          </a:p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sz="2400" b="1" dirty="0"/>
              <a:t>Missing Values Handling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Checked missing values using </a:t>
            </a:r>
            <a:r>
              <a:rPr lang="en-US" sz="2400" dirty="0" err="1">
                <a:latin typeface="Courier New" panose="02070309020205020404" pitchFamily="49" charset="0"/>
              </a:rPr>
              <a:t>df.isnull</a:t>
            </a:r>
            <a:r>
              <a:rPr lang="en-US" sz="2400" dirty="0">
                <a:latin typeface="Courier New" panose="02070309020205020404" pitchFamily="49" charset="0"/>
              </a:rPr>
              <a:t>().sum()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Identified event-based null values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Replaced them with appropriate labels without affecting match logic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Duplicate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 Used </a:t>
            </a:r>
            <a:r>
              <a:rPr lang="en-US" sz="2400" dirty="0" err="1">
                <a:latin typeface="Courier New" panose="02070309020205020404" pitchFamily="49" charset="0"/>
              </a:rPr>
              <a:t>df.duplicated</a:t>
            </a:r>
            <a:r>
              <a:rPr lang="en-US" sz="2400" dirty="0">
                <a:latin typeface="Courier New" panose="02070309020205020404" pitchFamily="49" charset="0"/>
              </a:rPr>
              <a:t>().sum()</a:t>
            </a:r>
            <a:r>
              <a:rPr lang="en-US" sz="2400" dirty="0"/>
              <a:t> to detect duplicates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 No duplicate records were found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5935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DAB1AE-6F91-B9BC-F914-0A34CADC8953}"/>
              </a:ext>
            </a:extLst>
          </p:cNvPr>
          <p:cNvSpPr txBox="1"/>
          <p:nvPr/>
        </p:nvSpPr>
        <p:spPr>
          <a:xfrm>
            <a:off x="596245" y="688090"/>
            <a:ext cx="9009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Class Imbalance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Checked distribution of </a:t>
            </a:r>
            <a:r>
              <a:rPr lang="en-US" sz="2400" dirty="0" err="1">
                <a:latin typeface="Courier New" panose="02070309020205020404" pitchFamily="49" charset="0"/>
              </a:rPr>
              <a:t>match_won_by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Observed minor imbalance between runs and wickets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Dataset is suitable for analysis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Outlier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Used boxplot to detect outliers in numerical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Verified that extreme values represent valid cricket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No outliers were removed</a:t>
            </a:r>
          </a:p>
        </p:txBody>
      </p:sp>
    </p:spTree>
    <p:extLst>
      <p:ext uri="{BB962C8B-B14F-4D97-AF65-F5344CB8AC3E}">
        <p14:creationId xmlns:p14="http://schemas.microsoft.com/office/powerpoint/2010/main" val="338526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B0C77DF-9444-ECB0-2BAC-FEB7CF66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351" y="1244338"/>
            <a:ext cx="8898903" cy="485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5C7EC1-2CE5-CBEE-F945-D1899D0FA1CE}"/>
              </a:ext>
            </a:extLst>
          </p:cNvPr>
          <p:cNvSpPr txBox="1"/>
          <p:nvPr/>
        </p:nvSpPr>
        <p:spPr>
          <a:xfrm>
            <a:off x="1539711" y="650714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Outlier Detection: Distribution of Runs Per Ball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8491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6B6FD-D05F-2F92-AFC0-362030D4EB99}"/>
              </a:ext>
            </a:extLst>
          </p:cNvPr>
          <p:cNvSpPr txBox="1"/>
          <p:nvPr/>
        </p:nvSpPr>
        <p:spPr>
          <a:xfrm>
            <a:off x="765928" y="713469"/>
            <a:ext cx="963183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box plot was used: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A boxplot was used to detect extreme values in numerical columns such as </a:t>
            </a:r>
            <a:r>
              <a:rPr lang="en-US" sz="2400" dirty="0" err="1">
                <a:latin typeface="Courier New" panose="02070309020205020404" pitchFamily="49" charset="0"/>
              </a:rPr>
              <a:t>runs_total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Some extreme values are visible in the upper range of runs.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2800" b="1" dirty="0"/>
              <a:t>Decision:</a:t>
            </a:r>
          </a:p>
          <a:p>
            <a:pPr>
              <a:buNone/>
            </a:pPr>
            <a:r>
              <a:rPr lang="en-US" sz="2400" dirty="0"/>
              <a:t>These values were retained because they represent valid cricket events and not data errors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1434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363FBE9-A4F9-B391-514E-4ABD1C381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16109"/>
            <a:ext cx="11277600" cy="486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155FA-E5AC-E4E1-9E06-3E58CF3641AB}"/>
              </a:ext>
            </a:extLst>
          </p:cNvPr>
          <p:cNvSpPr txBox="1"/>
          <p:nvPr/>
        </p:nvSpPr>
        <p:spPr>
          <a:xfrm>
            <a:off x="1039308" y="715999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Class Imbalance: Bar Chart</a:t>
            </a:r>
          </a:p>
        </p:txBody>
      </p:sp>
    </p:spTree>
    <p:extLst>
      <p:ext uri="{BB962C8B-B14F-4D97-AF65-F5344CB8AC3E}">
        <p14:creationId xmlns:p14="http://schemas.microsoft.com/office/powerpoint/2010/main" val="422500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D27DF-5B8A-A45D-CDDF-BEB98177BE35}"/>
              </a:ext>
            </a:extLst>
          </p:cNvPr>
          <p:cNvSpPr txBox="1"/>
          <p:nvPr/>
        </p:nvSpPr>
        <p:spPr>
          <a:xfrm>
            <a:off x="520831" y="335845"/>
            <a:ext cx="1099872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Class Imbalance </a:t>
            </a:r>
          </a:p>
          <a:p>
            <a:pPr>
              <a:buNone/>
            </a:pPr>
            <a:r>
              <a:rPr lang="en-US" sz="2800" b="1" dirty="0"/>
              <a:t>Key Plot: Match Winning Team Distribution</a:t>
            </a:r>
          </a:p>
          <a:p>
            <a:r>
              <a:rPr lang="en-US" sz="2800" b="1" dirty="0"/>
              <a:t>Chart Type: Bar Chart</a:t>
            </a:r>
            <a:r>
              <a:rPr lang="en-IN" sz="2800" b="1" dirty="0"/>
              <a:t>(Categorical Comparison Chart).</a:t>
            </a: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r>
              <a:rPr lang="en-US" sz="2800" b="1" dirty="0"/>
              <a:t>Why this plot was used:</a:t>
            </a:r>
          </a:p>
          <a:p>
            <a:r>
              <a:rPr lang="en-US" sz="2400" dirty="0"/>
              <a:t>A bar chart was used to compare the number of match wins across different IPL teams.</a:t>
            </a:r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Mumbai Indians and Chennai Super Kings have the highest number of match wins.</a:t>
            </a:r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This indicates strong historical performance and consistency of these teams in IPL.</a:t>
            </a:r>
          </a:p>
        </p:txBody>
      </p:sp>
    </p:spTree>
    <p:extLst>
      <p:ext uri="{BB962C8B-B14F-4D97-AF65-F5344CB8AC3E}">
        <p14:creationId xmlns:p14="http://schemas.microsoft.com/office/powerpoint/2010/main" val="435542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023D1-8FC8-8511-CCD9-D4FB7E454A31}"/>
              </a:ext>
            </a:extLst>
          </p:cNvPr>
          <p:cNvSpPr txBox="1"/>
          <p:nvPr/>
        </p:nvSpPr>
        <p:spPr>
          <a:xfrm>
            <a:off x="1192835" y="530242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EDA – Univariate Analysis</a:t>
            </a:r>
          </a:p>
          <a:p>
            <a:pPr>
              <a:buNone/>
            </a:pPr>
            <a:r>
              <a:rPr lang="en-US" sz="2000" b="1" dirty="0"/>
              <a:t>Key Plot: Distribution of Runs Per Ball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93B191-9356-3AB8-D0B6-C5F64A590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73" y="1595487"/>
            <a:ext cx="9521072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203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8E89A-59EA-984D-708A-F3D8BF79CC46}"/>
              </a:ext>
            </a:extLst>
          </p:cNvPr>
          <p:cNvSpPr txBox="1"/>
          <p:nvPr/>
        </p:nvSpPr>
        <p:spPr>
          <a:xfrm>
            <a:off x="775354" y="690589"/>
            <a:ext cx="937731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plot was used:</a:t>
            </a:r>
          </a:p>
          <a:p>
            <a:pPr>
              <a:buNone/>
            </a:pPr>
            <a:r>
              <a:rPr lang="en-US" sz="2400" dirty="0"/>
              <a:t>A histogram was used to understand how runs are distributed per delivery in IPL matches.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The majority of deliveries result in 0 or 1 run. Very few deliveries result in high runs.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This indicates that scoring in IPL is largely driven by singles and dot balls rather than big hits on every ball.</a:t>
            </a:r>
          </a:p>
        </p:txBody>
      </p:sp>
    </p:spTree>
    <p:extLst>
      <p:ext uri="{BB962C8B-B14F-4D97-AF65-F5344CB8AC3E}">
        <p14:creationId xmlns:p14="http://schemas.microsoft.com/office/powerpoint/2010/main" val="870513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372A5C-A3DF-1F1A-E702-847CD5A04A5C}"/>
              </a:ext>
            </a:extLst>
          </p:cNvPr>
          <p:cNvSpPr txBox="1"/>
          <p:nvPr/>
        </p:nvSpPr>
        <p:spPr>
          <a:xfrm>
            <a:off x="973318" y="751084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Plot: Match Winning Method Distribution</a:t>
            </a:r>
            <a:endParaRPr lang="en-IN" sz="2000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17063E-7FDE-4877-588B-DF5A86CF9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432874"/>
            <a:ext cx="11268075" cy="477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065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74B33-F132-E654-5920-D7D668546CA9}"/>
              </a:ext>
            </a:extLst>
          </p:cNvPr>
          <p:cNvSpPr txBox="1"/>
          <p:nvPr/>
        </p:nvSpPr>
        <p:spPr>
          <a:xfrm>
            <a:off x="756500" y="873724"/>
            <a:ext cx="958470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plot was used:</a:t>
            </a:r>
          </a:p>
          <a:p>
            <a:pPr>
              <a:buNone/>
            </a:pPr>
            <a:r>
              <a:rPr lang="en-US" sz="2400" dirty="0"/>
              <a:t>A bar chart was used to compare the number of matches won by runs and wickets.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Matches won by wickets are slightly higher compared to matches won by runs.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This suggests that chasing teams often have a competitive advantage.</a:t>
            </a:r>
          </a:p>
        </p:txBody>
      </p:sp>
    </p:spTree>
    <p:extLst>
      <p:ext uri="{BB962C8B-B14F-4D97-AF65-F5344CB8AC3E}">
        <p14:creationId xmlns:p14="http://schemas.microsoft.com/office/powerpoint/2010/main" val="544486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4F998-DCCA-F865-AEFB-7BC7050FAF20}"/>
              </a:ext>
            </a:extLst>
          </p:cNvPr>
          <p:cNvSpPr txBox="1"/>
          <p:nvPr/>
        </p:nvSpPr>
        <p:spPr>
          <a:xfrm>
            <a:off x="888479" y="386248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EDA – Bivariate Analysis</a:t>
            </a:r>
          </a:p>
          <a:p>
            <a:pPr>
              <a:buNone/>
            </a:pPr>
            <a:r>
              <a:rPr lang="en-US" sz="2000" b="1" dirty="0"/>
              <a:t>Important Relationship: Toss Winner vs Match Result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0F1CA6-6EF2-B21F-2127-C021C3BAA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87635"/>
              </p:ext>
            </p:extLst>
          </p:nvPr>
        </p:nvGraphicFramePr>
        <p:xfrm>
          <a:off x="726093" y="1574801"/>
          <a:ext cx="11107761" cy="4389119"/>
        </p:xfrm>
        <a:graphic>
          <a:graphicData uri="http://schemas.openxmlformats.org/drawingml/2006/table">
            <a:tbl>
              <a:tblPr/>
              <a:tblGrid>
                <a:gridCol w="528941">
                  <a:extLst>
                    <a:ext uri="{9D8B030D-6E8A-4147-A177-3AD203B41FA5}">
                      <a16:colId xmlns:a16="http://schemas.microsoft.com/office/drawing/2014/main" val="610843021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541402459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51458985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2301541123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50324259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059730348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817927501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422585156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299885665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2607727875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431305697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673909273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595341148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37632573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265424107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1893126821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270329662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3711328783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557515295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2162165154"/>
                    </a:ext>
                  </a:extLst>
                </a:gridCol>
                <a:gridCol w="528941">
                  <a:extLst>
                    <a:ext uri="{9D8B030D-6E8A-4147-A177-3AD203B41FA5}">
                      <a16:colId xmlns:a16="http://schemas.microsoft.com/office/drawing/2014/main" val="2815183865"/>
                    </a:ext>
                  </a:extLst>
                </a:gridCol>
              </a:tblGrid>
              <a:tr h="3092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match_won_by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Chennai Super Kings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Deccan Chargers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Delhi Capitals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Delhi Daredevils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Gujarat Lions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Gujarat Titans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Kings XI Punjab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Kochi Tuskers Kerala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Kolkata Knight Riders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Lucknow Super Giants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Mumbai Indians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Pune Warriors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Punjab Kings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Rajasthan Royals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Rising Pune Supergiant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Rising Pune Supergiants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Royal Challengers Bangalore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Royal Challengers Bengaluru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Sunrisers Hyderabad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Unknown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916515"/>
                  </a:ext>
                </a:extLst>
              </a:tr>
              <a:tr h="13133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toss_winner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 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52273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Chennai Super Kings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18807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952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1001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1177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1710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756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1925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1327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475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377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10360"/>
                  </a:ext>
                </a:extLst>
              </a:tr>
              <a:tr h="190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Deccan Chargers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4624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1171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979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719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682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207224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Delhi Capitals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708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6921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734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1455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753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735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519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093678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Delhi Daredevils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1221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8117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1601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1183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2123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1590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1229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927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889249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Gujarat Lions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2342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263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196951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Gujarat Titans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507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4605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52354"/>
                  </a:ext>
                </a:extLst>
              </a:tr>
              <a:tr h="190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Kings XI Punjab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933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738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8266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1716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436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1466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1629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1955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514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872095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Kochi Tuskers Kerala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228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830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456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316901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Kolkata Knight Riders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2606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1208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dirty="0">
                          <a:effectLst/>
                        </a:rPr>
                        <a:t>1464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dirty="0">
                          <a:effectLst/>
                        </a:rPr>
                        <a:t>492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16621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727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2436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222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997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706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1428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267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155852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Lucknow Super Giants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260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3213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510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183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056416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Mumbai Indians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1467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1468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992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2162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1401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1268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19397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504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1434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218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1715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1692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780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446440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Pune Warriors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738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469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715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470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990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476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119490"/>
                  </a:ext>
                </a:extLst>
              </a:tr>
              <a:tr h="16099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Punjab Kings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510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3986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761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982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47619"/>
                  </a:ext>
                </a:extLst>
              </a:tr>
              <a:tr h="190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Rajasthan Royals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2944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980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619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937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1670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1975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14628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1214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703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412875"/>
                  </a:ext>
                </a:extLst>
              </a:tr>
              <a:tr h="2499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Rising Pune Supergiant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226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1145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576630"/>
                  </a:ext>
                </a:extLst>
              </a:tr>
              <a:tr h="2499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Rising Pune Supergiants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237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637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6033"/>
                  </a:ext>
                </a:extLst>
              </a:tr>
              <a:tr h="3092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Royal Challengers Bangalore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1487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993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480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1780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2064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1506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992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13049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1477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649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50012"/>
                  </a:ext>
                </a:extLst>
              </a:tr>
              <a:tr h="3092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Royal Challengers Bengaluru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253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2258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512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952616"/>
                  </a:ext>
                </a:extLst>
              </a:tr>
              <a:tr h="2499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b="1">
                          <a:effectLst/>
                        </a:rPr>
                        <a:t>Sunrisers Hyderabad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1712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948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744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493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3069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714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1181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466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1481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246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1335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>
                          <a:effectLst/>
                        </a:rPr>
                        <a:t>9600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200" dirty="0">
                          <a:effectLst/>
                        </a:rPr>
                        <a:t>374</a:t>
                      </a:r>
                    </a:p>
                  </a:txBody>
                  <a:tcPr marL="12600" marR="12600" marT="6300" marB="6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66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948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FFBCA-7A4A-2F80-ACE0-D35B2DA95D6D}"/>
              </a:ext>
            </a:extLst>
          </p:cNvPr>
          <p:cNvSpPr txBox="1"/>
          <p:nvPr/>
        </p:nvSpPr>
        <p:spPr>
          <a:xfrm>
            <a:off x="794209" y="836016"/>
            <a:ext cx="98769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chart was used:</a:t>
            </a:r>
          </a:p>
          <a:p>
            <a:pPr>
              <a:buNone/>
            </a:pPr>
            <a:r>
              <a:rPr lang="en-US" sz="2400" dirty="0"/>
              <a:t>This chart was used to analyze whether winning the toss influences match results.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Toss winners do not always win the match.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This shows that match outcome depends more on performance rather than toss advantage.</a:t>
            </a:r>
          </a:p>
        </p:txBody>
      </p:sp>
    </p:spTree>
    <p:extLst>
      <p:ext uri="{BB962C8B-B14F-4D97-AF65-F5344CB8AC3E}">
        <p14:creationId xmlns:p14="http://schemas.microsoft.com/office/powerpoint/2010/main" val="435144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8AA6CE-757A-EE81-C6D8-FF2B39E839CE}"/>
              </a:ext>
            </a:extLst>
          </p:cNvPr>
          <p:cNvSpPr txBox="1"/>
          <p:nvPr/>
        </p:nvSpPr>
        <p:spPr>
          <a:xfrm>
            <a:off x="954463" y="539948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Important Relationship: Season vs Total Runs</a:t>
            </a:r>
            <a:endParaRPr lang="en-IN" sz="20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5F41B66-EA1D-3FC7-2ED5-28AE37E9B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77" y="1102937"/>
            <a:ext cx="11557262" cy="501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078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8F94A-98C8-B306-6539-9FACAEACBB5A}"/>
              </a:ext>
            </a:extLst>
          </p:cNvPr>
          <p:cNvSpPr txBox="1"/>
          <p:nvPr/>
        </p:nvSpPr>
        <p:spPr>
          <a:xfrm>
            <a:off x="907330" y="987577"/>
            <a:ext cx="95564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plot was used:</a:t>
            </a:r>
          </a:p>
          <a:p>
            <a:pPr>
              <a:buNone/>
            </a:pPr>
            <a:r>
              <a:rPr lang="en-US" sz="2400" dirty="0"/>
              <a:t>A line plot was used to analyze scoring trends across different IPL seasons.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Some seasons show higher total runs compared to others.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This may indicate changes in pitch conditions, player performance, or game strategies over time.</a:t>
            </a:r>
          </a:p>
        </p:txBody>
      </p:sp>
    </p:spTree>
    <p:extLst>
      <p:ext uri="{BB962C8B-B14F-4D97-AF65-F5344CB8AC3E}">
        <p14:creationId xmlns:p14="http://schemas.microsoft.com/office/powerpoint/2010/main" val="2644977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05AC4B-7814-EBDE-43BF-B777524CE7E1}"/>
              </a:ext>
            </a:extLst>
          </p:cNvPr>
          <p:cNvSpPr txBox="1"/>
          <p:nvPr/>
        </p:nvSpPr>
        <p:spPr>
          <a:xfrm>
            <a:off x="1274976" y="647701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EDA – Multivariate Analysis</a:t>
            </a:r>
          </a:p>
          <a:p>
            <a:pPr>
              <a:buNone/>
            </a:pPr>
            <a:r>
              <a:rPr lang="en-US" sz="2000" b="1" dirty="0"/>
              <a:t>Advanced Plot: Top 10 Batsmen by Total Runs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94B1EA9-26E6-EA53-706F-7703EDDDF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80008"/>
            <a:ext cx="11277600" cy="461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391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1B7B35-9BAD-3333-5833-324700E43671}"/>
              </a:ext>
            </a:extLst>
          </p:cNvPr>
          <p:cNvSpPr txBox="1"/>
          <p:nvPr/>
        </p:nvSpPr>
        <p:spPr>
          <a:xfrm>
            <a:off x="1156355" y="511669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Advanced Plot: Correlation Heatmap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DF5A4F0-6214-6BA1-AA3D-1AC364F3F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05" y="933254"/>
            <a:ext cx="9916998" cy="521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097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1BCFB-413E-BB52-ED30-7E41A7B78F71}"/>
              </a:ext>
            </a:extLst>
          </p:cNvPr>
          <p:cNvSpPr txBox="1"/>
          <p:nvPr/>
        </p:nvSpPr>
        <p:spPr>
          <a:xfrm>
            <a:off x="879051" y="770030"/>
            <a:ext cx="918877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plot was used:</a:t>
            </a:r>
          </a:p>
          <a:p>
            <a:pPr>
              <a:buNone/>
            </a:pPr>
            <a:r>
              <a:rPr lang="en-US" sz="2400" dirty="0"/>
              <a:t>A heatmap was used to understand relationships between numerical variables.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There is a strong positive correlation between </a:t>
            </a:r>
            <a:r>
              <a:rPr lang="en-US" sz="2400" dirty="0" err="1"/>
              <a:t>runs_total</a:t>
            </a:r>
            <a:r>
              <a:rPr lang="en-US" sz="2400" dirty="0"/>
              <a:t> and </a:t>
            </a:r>
            <a:r>
              <a:rPr lang="en-US" sz="2400" dirty="0" err="1"/>
              <a:t>runs_batter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This confirms that batter performance significantly influences total runs scored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482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676D1-01CD-172E-02ED-EF9A086D3A3D}"/>
              </a:ext>
            </a:extLst>
          </p:cNvPr>
          <p:cNvSpPr txBox="1"/>
          <p:nvPr/>
        </p:nvSpPr>
        <p:spPr>
          <a:xfrm>
            <a:off x="758072" y="971035"/>
            <a:ext cx="1009217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Visual &amp; Non-Visual Insights</a:t>
            </a:r>
          </a:p>
          <a:p>
            <a:pPr>
              <a:buNone/>
            </a:pPr>
            <a:r>
              <a:rPr lang="en-US" sz="2800" b="1" dirty="0"/>
              <a:t>Pivot Tables / Summary Statistics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Created pivot table to calculate </a:t>
            </a:r>
            <a:r>
              <a:rPr lang="en-US" sz="2400" b="1" dirty="0"/>
              <a:t>season-wise total runs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Used </a:t>
            </a:r>
            <a:r>
              <a:rPr lang="en-US" sz="2400" dirty="0" err="1">
                <a:latin typeface="Courier New" panose="02070309020205020404" pitchFamily="49" charset="0"/>
              </a:rPr>
              <a:t>groupby</a:t>
            </a:r>
            <a:r>
              <a:rPr lang="en-US" sz="2400" dirty="0">
                <a:latin typeface="Courier New" panose="02070309020205020404" pitchFamily="49" charset="0"/>
              </a:rPr>
              <a:t>()</a:t>
            </a:r>
            <a:r>
              <a:rPr lang="en-US" sz="2400" dirty="0"/>
              <a:t> to summarize team and player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Applied summary statistics using </a:t>
            </a:r>
            <a:r>
              <a:rPr lang="en-US" sz="2400" dirty="0">
                <a:latin typeface="Courier New" panose="02070309020205020404" pitchFamily="49" charset="0"/>
              </a:rPr>
              <a:t>describe()</a:t>
            </a:r>
            <a:r>
              <a:rPr lang="en-US" sz="2400" dirty="0"/>
              <a:t> to analyze: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Mean runs per ball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Maximum runs scored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Distribution spread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Aggregated ball-level data into season-level insights.</a:t>
            </a:r>
          </a:p>
        </p:txBody>
      </p:sp>
    </p:spTree>
    <p:extLst>
      <p:ext uri="{BB962C8B-B14F-4D97-AF65-F5344CB8AC3E}">
        <p14:creationId xmlns:p14="http://schemas.microsoft.com/office/powerpoint/2010/main" val="276600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F5A00E-6123-1772-D5F8-AC8B43E049CB}"/>
              </a:ext>
            </a:extLst>
          </p:cNvPr>
          <p:cNvSpPr txBox="1"/>
          <p:nvPr/>
        </p:nvSpPr>
        <p:spPr>
          <a:xfrm>
            <a:off x="831916" y="463567"/>
            <a:ext cx="62496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Pivot table summarizes total runs by season and winning team</a:t>
            </a:r>
            <a:endParaRPr lang="en-IN" sz="2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BB5CC1-CF80-50F3-B27F-A024549E8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877437"/>
              </p:ext>
            </p:extLst>
          </p:nvPr>
        </p:nvGraphicFramePr>
        <p:xfrm>
          <a:off x="914400" y="1280160"/>
          <a:ext cx="10414005" cy="4833930"/>
        </p:xfrm>
        <a:graphic>
          <a:graphicData uri="http://schemas.openxmlformats.org/drawingml/2006/table">
            <a:tbl>
              <a:tblPr/>
              <a:tblGrid>
                <a:gridCol w="495905">
                  <a:extLst>
                    <a:ext uri="{9D8B030D-6E8A-4147-A177-3AD203B41FA5}">
                      <a16:colId xmlns:a16="http://schemas.microsoft.com/office/drawing/2014/main" val="3233794528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586596470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648878937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1295993435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496266066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984648295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509851062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23039474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3512712350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1009070912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4093577905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1409706172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520416411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108343370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157514179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1760211429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4187063363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848846247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2568306877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997995027"/>
                    </a:ext>
                  </a:extLst>
                </a:gridCol>
                <a:gridCol w="495905">
                  <a:extLst>
                    <a:ext uri="{9D8B030D-6E8A-4147-A177-3AD203B41FA5}">
                      <a16:colId xmlns:a16="http://schemas.microsoft.com/office/drawing/2014/main" val="3967903453"/>
                    </a:ext>
                  </a:extLst>
                </a:gridCol>
              </a:tblGrid>
              <a:tr h="496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match_won_by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Chennai Super Kings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Deccan Chargers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Delhi Capitals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Delhi Daredevils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Gujarat Lions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Gujarat Titans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Kings XI Punjab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Kochi Tuskers Kerala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Kolkata Knight Riders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Lucknow Super Giants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Mumbai Indians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Pune Warriors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Punjab Kings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Rajasthan Royals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Rising Pune Supergiant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Rising Pune Supergiants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Royal Challengers Bangalore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Royal Challengers Bengaluru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Sunrisers Hyderabad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Unknown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505629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season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 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46981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2007/08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2945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8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601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C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2302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63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3179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8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1756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DC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1805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D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4135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1214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CB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21801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2009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2288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9A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2670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2872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B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1981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BA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817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1419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A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1417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5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2556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499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333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C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8657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2009/10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2975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2582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36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2099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7D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939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C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2128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1C2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3649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3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1899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5BE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2321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63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291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E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150336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3461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E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1688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8E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1440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BD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2327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A3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1661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2050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7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2912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94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1036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D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1544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E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2979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6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D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57829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3137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47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1204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BF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3123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2392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9E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3446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34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6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1215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E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2238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5AA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2692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3B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071270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3835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912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E0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2506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96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1622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E5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3989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1226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3262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1A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2488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0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2137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9F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625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C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530335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2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584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F1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4132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3462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33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2371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C4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1768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C3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1471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BC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1811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B8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326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EC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89549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3049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4F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1483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BB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526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8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2274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B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3279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2321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A4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2292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2337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8E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792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01147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2184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72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2952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1194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2E1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2270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B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2377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C4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1329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3147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3409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B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083784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2155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76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1368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3BD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2140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B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2732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8D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3399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0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2971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1016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D9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2682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68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323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D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12435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3830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1741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A5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2000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B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3117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59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2105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CD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2254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1954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93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2900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2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080852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2019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2853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60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2953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2021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B8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2260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BA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3028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3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1693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7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1824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9E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1971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AC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831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A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843787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2020/21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1953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2739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2A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1533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E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1899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D0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3448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4B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AC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1760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A4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2427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5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1458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273979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2021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3546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2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2773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8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2408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9AD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2245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D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1876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B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1696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6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2910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2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850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C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333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C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266761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1436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E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2287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3892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1753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DC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3096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1187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2435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82B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3494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D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2999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266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1816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B8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352863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3544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2B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1570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AC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3749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3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2106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5C3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2832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3434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4C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2165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9B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2426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9C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2200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7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1537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C6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125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A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811771"/>
                  </a:ext>
                </a:extLst>
              </a:tr>
              <a:tr h="2000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2306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98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2647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0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1770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7BE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3826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2482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4C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1556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7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1887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B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3197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6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2594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85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3706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56733"/>
                  </a:ext>
                </a:extLst>
              </a:tr>
              <a:tr h="1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/>
                        <a:t>2025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1386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D0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2156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3256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40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1639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2410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54A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3052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8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3670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1514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5CF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3975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D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>
                          <a:solidFill>
                            <a:srgbClr val="F1F1F1"/>
                          </a:solidFill>
                          <a:effectLst/>
                        </a:rPr>
                        <a:t>2606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70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500" dirty="0">
                          <a:solidFill>
                            <a:srgbClr val="F1F1F1"/>
                          </a:solidFill>
                          <a:effectLst/>
                        </a:rPr>
                        <a:t>863</a:t>
                      </a:r>
                    </a:p>
                  </a:txBody>
                  <a:tcPr marL="31839" marR="31839" marT="15920" marB="1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54008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32EEC9C-E645-EA30-D08D-20F238076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1778000"/>
            <a:ext cx="6412547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78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6FE78B-D97D-3098-1959-5E307CC8DB7C}"/>
              </a:ext>
            </a:extLst>
          </p:cNvPr>
          <p:cNvSpPr txBox="1"/>
          <p:nvPr/>
        </p:nvSpPr>
        <p:spPr>
          <a:xfrm>
            <a:off x="756501" y="794284"/>
            <a:ext cx="1049910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this was used:</a:t>
            </a:r>
          </a:p>
          <a:p>
            <a:pPr>
              <a:buNone/>
            </a:pPr>
            <a:r>
              <a:rPr lang="en-US" sz="2400" dirty="0"/>
              <a:t>Pivot tables and summary statistics were used to convert detailed ball-by-ball data into structured seasonal insights.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Observation:</a:t>
            </a:r>
          </a:p>
          <a:p>
            <a:pPr>
              <a:buNone/>
            </a:pPr>
            <a:r>
              <a:rPr lang="en-US" sz="2400" dirty="0"/>
              <a:t>Certain seasons recorded higher total runs and more wickets compared to others.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b="1" dirty="0"/>
              <a:t>Insight:</a:t>
            </a:r>
          </a:p>
          <a:p>
            <a:pPr>
              <a:buNone/>
            </a:pPr>
            <a:r>
              <a:rPr lang="en-US" sz="2400" dirty="0"/>
              <a:t>Scoring trends and match dynamics vary across seasons, indicating evolution in batting strategies and team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39169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32ED4-57BF-F021-6F13-81FCD81B0756}"/>
              </a:ext>
            </a:extLst>
          </p:cNvPr>
          <p:cNvSpPr txBox="1"/>
          <p:nvPr/>
        </p:nvSpPr>
        <p:spPr>
          <a:xfrm>
            <a:off x="860196" y="755202"/>
            <a:ext cx="966954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Key Takeaways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Mumbai Indians and Chennai Super Kings show consistent      </a:t>
            </a:r>
            <a:br>
              <a:rPr lang="en-US" sz="2400" dirty="0"/>
            </a:br>
            <a:r>
              <a:rPr lang="en-US" sz="2400" dirty="0"/>
              <a:t>   dominance.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Most deliveries result in 0 or 1 run.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Winning the toss does not guarantee match victory.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 small group of players contribute significantly to total runs.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Data aggregation helps transform raw event-level data into    </a:t>
            </a:r>
            <a:br>
              <a:rPr lang="en-US" sz="2400" dirty="0"/>
            </a:br>
            <a:r>
              <a:rPr lang="en-US" sz="2400" dirty="0"/>
              <a:t>   meaningful insights.</a:t>
            </a:r>
          </a:p>
        </p:txBody>
      </p:sp>
    </p:spTree>
    <p:extLst>
      <p:ext uri="{BB962C8B-B14F-4D97-AF65-F5344CB8AC3E}">
        <p14:creationId xmlns:p14="http://schemas.microsoft.com/office/powerpoint/2010/main" val="1677795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C08CB6-9D3B-097C-BE70-4C0FF7C202DD}"/>
              </a:ext>
            </a:extLst>
          </p:cNvPr>
          <p:cNvSpPr txBox="1"/>
          <p:nvPr/>
        </p:nvSpPr>
        <p:spPr>
          <a:xfrm>
            <a:off x="885157" y="748788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Which Year – Which Player Scored the Most Runs</a:t>
            </a:r>
            <a:endParaRPr lang="en-IN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1107C1-AD7D-339E-C9DD-59E59967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9481"/>
              </p:ext>
            </p:extLst>
          </p:nvPr>
        </p:nvGraphicFramePr>
        <p:xfrm>
          <a:off x="885157" y="1498861"/>
          <a:ext cx="10421688" cy="4610350"/>
        </p:xfrm>
        <a:graphic>
          <a:graphicData uri="http://schemas.openxmlformats.org/drawingml/2006/table">
            <a:tbl>
              <a:tblPr/>
              <a:tblGrid>
                <a:gridCol w="2605422">
                  <a:extLst>
                    <a:ext uri="{9D8B030D-6E8A-4147-A177-3AD203B41FA5}">
                      <a16:colId xmlns:a16="http://schemas.microsoft.com/office/drawing/2014/main" val="726415231"/>
                    </a:ext>
                  </a:extLst>
                </a:gridCol>
                <a:gridCol w="2605422">
                  <a:extLst>
                    <a:ext uri="{9D8B030D-6E8A-4147-A177-3AD203B41FA5}">
                      <a16:colId xmlns:a16="http://schemas.microsoft.com/office/drawing/2014/main" val="3861633357"/>
                    </a:ext>
                  </a:extLst>
                </a:gridCol>
                <a:gridCol w="2605422">
                  <a:extLst>
                    <a:ext uri="{9D8B030D-6E8A-4147-A177-3AD203B41FA5}">
                      <a16:colId xmlns:a16="http://schemas.microsoft.com/office/drawing/2014/main" val="1204860736"/>
                    </a:ext>
                  </a:extLst>
                </a:gridCol>
                <a:gridCol w="2605422">
                  <a:extLst>
                    <a:ext uri="{9D8B030D-6E8A-4147-A177-3AD203B41FA5}">
                      <a16:colId xmlns:a16="http://schemas.microsoft.com/office/drawing/2014/main" val="1158360501"/>
                    </a:ext>
                  </a:extLst>
                </a:gridCol>
              </a:tblGrid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 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season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batter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runs_batter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179240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115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2007/08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 Marsh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616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2E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95430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229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2009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ML Hayden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572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0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693529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446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2009/10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SR Tendulkar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618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2F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89999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502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CH Gayle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608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82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9494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684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CH Gayle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733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7C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88771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910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MEK Hussey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733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7C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818720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1088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RV Uthappa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660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35750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1148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2015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 Warner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562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36242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1383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 Kohli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</a:rPr>
                        <a:t>973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7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259443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1422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2017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 Warner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641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41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213729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1594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2018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KS Williamson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735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7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25684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1694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2019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 Warner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692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6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051445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1866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2020/21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KL Rahul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676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5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480305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2051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RD Gaikwad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635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33D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58895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2144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2022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JC Buttler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</a:rPr>
                        <a:t>863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C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385328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2423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2023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Shubman Gill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</a:rPr>
                        <a:t>890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D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216975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2606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2024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 Kohli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F1F1F1"/>
                          </a:solidFill>
                          <a:effectLst/>
                        </a:rPr>
                        <a:t>741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051667"/>
                  </a:ext>
                </a:extLst>
              </a:tr>
              <a:tr h="242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2640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 Sai Sudharsan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F1F1F1"/>
                          </a:solidFill>
                          <a:effectLst/>
                        </a:rPr>
                        <a:t>759</a:t>
                      </a:r>
                    </a:p>
                  </a:txBody>
                  <a:tcPr marL="68705" marR="68705" marT="34353" marB="34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8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71863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656B627-5CCD-731D-43CA-2770F37A0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57" y="1746735"/>
            <a:ext cx="10257326" cy="166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076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D19085-8A1B-994A-ED17-D583C372AB83}"/>
              </a:ext>
            </a:extLst>
          </p:cNvPr>
          <p:cNvSpPr txBox="1"/>
          <p:nvPr/>
        </p:nvSpPr>
        <p:spPr>
          <a:xfrm>
            <a:off x="792480" y="883920"/>
            <a:ext cx="99161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analysis was performed:</a:t>
            </a:r>
          </a:p>
          <a:p>
            <a:r>
              <a:rPr lang="en-US" sz="2400" dirty="0"/>
              <a:t>To identify the highest run-scoring player in each IPL season.</a:t>
            </a:r>
          </a:p>
          <a:p>
            <a:endParaRPr lang="en-US" sz="2400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Each season has a different leading run scorer, though some players appear multiple times across seasons.</a:t>
            </a:r>
          </a:p>
          <a:p>
            <a:endParaRPr lang="en-US" sz="2400" dirty="0"/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This highlights both season-specific peak performances and long-term consistency of certain players.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5758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1EB5DC-C109-5CDF-A7AB-2E70E069D02F}"/>
              </a:ext>
            </a:extLst>
          </p:cNvPr>
          <p:cNvSpPr txBox="1"/>
          <p:nvPr/>
        </p:nvSpPr>
        <p:spPr>
          <a:xfrm>
            <a:off x="838200" y="685097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Most Runs by a Player in IPL Overall</a:t>
            </a:r>
            <a:endParaRPr lang="en-IN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A11901-3EFF-D60B-0ABB-ABA135FE7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80839"/>
              </p:ext>
            </p:extLst>
          </p:nvPr>
        </p:nvGraphicFramePr>
        <p:xfrm>
          <a:off x="838200" y="1381760"/>
          <a:ext cx="10327640" cy="4704084"/>
        </p:xfrm>
        <a:graphic>
          <a:graphicData uri="http://schemas.openxmlformats.org/drawingml/2006/table">
            <a:tbl>
              <a:tblPr/>
              <a:tblGrid>
                <a:gridCol w="5163820">
                  <a:extLst>
                    <a:ext uri="{9D8B030D-6E8A-4147-A177-3AD203B41FA5}">
                      <a16:colId xmlns:a16="http://schemas.microsoft.com/office/drawing/2014/main" val="615371087"/>
                    </a:ext>
                  </a:extLst>
                </a:gridCol>
                <a:gridCol w="5163820">
                  <a:extLst>
                    <a:ext uri="{9D8B030D-6E8A-4147-A177-3AD203B41FA5}">
                      <a16:colId xmlns:a16="http://schemas.microsoft.com/office/drawing/2014/main" val="1311307114"/>
                    </a:ext>
                  </a:extLst>
                </a:gridCol>
              </a:tblGrid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runs_batter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877416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319516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 Kohli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8671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D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51113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RG Sharma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7048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40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296456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 Dhawan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6769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34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85095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 Warner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6567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82D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02999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SK Raina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5536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12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685957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 Dhoni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5439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54315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KL 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5235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409698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 de Villiers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5181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0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72757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 Rahane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5032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101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360259"/>
                  </a:ext>
                </a:extLst>
              </a:tr>
              <a:tr h="392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 Gayle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1F1F1"/>
                          </a:solidFill>
                          <a:effectLst/>
                        </a:rPr>
                        <a:t>4997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83955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FD4DBE5-A966-6CAF-D393-637CF7B33E1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8200" y="2121031"/>
            <a:ext cx="9521858" cy="52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074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5ABEE3-7C87-E0E4-3B20-C0962B706401}"/>
              </a:ext>
            </a:extLst>
          </p:cNvPr>
          <p:cNvSpPr txBox="1"/>
          <p:nvPr/>
        </p:nvSpPr>
        <p:spPr>
          <a:xfrm>
            <a:off x="954255" y="759614"/>
            <a:ext cx="92078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analysis was performed:</a:t>
            </a:r>
          </a:p>
          <a:p>
            <a:r>
              <a:rPr lang="en-US" sz="2400" dirty="0"/>
              <a:t>To determine the highest cumulative run scorer in IPL history.</a:t>
            </a:r>
          </a:p>
          <a:p>
            <a:endParaRPr lang="en-US" sz="2400" b="1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The top player has significantly higher total runs compared to others.</a:t>
            </a:r>
          </a:p>
          <a:p>
            <a:endParaRPr lang="en-US" sz="2400" dirty="0"/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Consistent long-term performance across seasons contributes to overall dominance in IPL statistics.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15231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0FA7A6-E949-71DE-3946-03E93C4997B7}"/>
              </a:ext>
            </a:extLst>
          </p:cNvPr>
          <p:cNvSpPr txBox="1"/>
          <p:nvPr/>
        </p:nvSpPr>
        <p:spPr>
          <a:xfrm>
            <a:off x="838200" y="612749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 of the Match – All Seasons</a:t>
            </a:r>
            <a:endParaRPr lang="en-IN"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5E9AC1-6FA9-9B75-816A-04B4AB150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03039"/>
              </p:ext>
            </p:extLst>
          </p:nvPr>
        </p:nvGraphicFramePr>
        <p:xfrm>
          <a:off x="838200" y="1148080"/>
          <a:ext cx="10515600" cy="489711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611610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1873734"/>
                    </a:ext>
                  </a:extLst>
                </a:gridCol>
              </a:tblGrid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Awards_Count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28795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player_of_match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007405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 de Villiers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6170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09120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 Gayle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1F1F1"/>
                          </a:solidFill>
                          <a:effectLst/>
                        </a:rPr>
                        <a:t>5186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6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265406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RG Sharma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1F1F1"/>
                          </a:solidFill>
                          <a:effectLst/>
                        </a:rPr>
                        <a:t>5134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636734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MS Dhoni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4384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EC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93672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 Warner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4329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C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291219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 Kohli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4302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5C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92495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 Narine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4018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E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93911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 Russell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3905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95031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 Jadeja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0000"/>
                          </a:solidFill>
                          <a:effectLst/>
                        </a:rPr>
                        <a:t>3864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586658"/>
                  </a:ext>
                </a:extLst>
              </a:tr>
              <a:tr h="40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SR Watson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</a:rPr>
                        <a:t>3807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951233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5E2938F-B521-3E5A-5701-2D85D491A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73287"/>
            <a:ext cx="8456629" cy="18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69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0B6044-D77A-7F9E-1AE7-8D43A011CBC8}"/>
              </a:ext>
            </a:extLst>
          </p:cNvPr>
          <p:cNvSpPr txBox="1"/>
          <p:nvPr/>
        </p:nvSpPr>
        <p:spPr>
          <a:xfrm>
            <a:off x="1137134" y="859130"/>
            <a:ext cx="943973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analysis was performed:</a:t>
            </a:r>
          </a:p>
          <a:p>
            <a:r>
              <a:rPr lang="en-US" sz="2400" dirty="0"/>
              <a:t>To identify players who have received the highest number of 'Player of the Match' awards.</a:t>
            </a:r>
          </a:p>
          <a:p>
            <a:endParaRPr lang="en-US" sz="2400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Certain players have won the award multiple times, indicating impactful performances.</a:t>
            </a:r>
          </a:p>
          <a:p>
            <a:endParaRPr lang="en-US" sz="2400" dirty="0"/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Frequent Player of the Match awards reflect match-winning contributions and individual influence on game outcomes.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6419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E95556-20CF-718C-5ADD-9E049C12093C}"/>
              </a:ext>
            </a:extLst>
          </p:cNvPr>
          <p:cNvSpPr txBox="1"/>
          <p:nvPr/>
        </p:nvSpPr>
        <p:spPr>
          <a:xfrm>
            <a:off x="1189506" y="612746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Top 10 Bowlers by Wickets</a:t>
            </a:r>
            <a:endParaRPr lang="en-IN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A8AC0F-3A60-4D21-960E-0D07E8606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87120"/>
            <a:ext cx="11277600" cy="495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47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BF728F3-EAC2-B88B-D828-445F682D94CB}"/>
              </a:ext>
            </a:extLst>
          </p:cNvPr>
          <p:cNvSpPr txBox="1"/>
          <p:nvPr/>
        </p:nvSpPr>
        <p:spPr>
          <a:xfrm>
            <a:off x="588598" y="737453"/>
            <a:ext cx="995758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plot was used:</a:t>
            </a:r>
          </a:p>
          <a:p>
            <a:r>
              <a:rPr lang="en-US" sz="2400" dirty="0"/>
              <a:t>A bar chart was used to identify the top 10 bowlers based on the total number of wickets taken across IPL seasons.</a:t>
            </a:r>
          </a:p>
          <a:p>
            <a:endParaRPr lang="en-US" sz="2400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A few bowlers have significantly higher wicket counts compared to others. The difference between the top bowlers and the rest is clearly visible.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1574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8F645-CB13-D441-5486-9F1CDD7FCF63}"/>
              </a:ext>
            </a:extLst>
          </p:cNvPr>
          <p:cNvSpPr txBox="1"/>
          <p:nvPr/>
        </p:nvSpPr>
        <p:spPr>
          <a:xfrm>
            <a:off x="869623" y="926259"/>
            <a:ext cx="1005604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Insight:</a:t>
            </a:r>
          </a:p>
          <a:p>
            <a:r>
              <a:rPr lang="en-US" sz="2400" dirty="0"/>
              <a:t>This indicates that certain bowlers have consistently contributed to their team's success by taking crucial wickets. Strong bowling performance plays a major role in controlling the game and limiting the opponent's score.</a:t>
            </a:r>
          </a:p>
          <a:p>
            <a:endParaRPr lang="en-US" sz="2400" b="1" dirty="0"/>
          </a:p>
          <a:p>
            <a:r>
              <a:rPr lang="en-US" sz="2800" b="1" dirty="0"/>
              <a:t>Conclusion:</a:t>
            </a:r>
          </a:p>
          <a:p>
            <a:r>
              <a:rPr lang="en-US" sz="2400" dirty="0"/>
              <a:t>Wicket-taking consistency is an important factor in long-term team performance and match outcomes.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68591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0CC7B5-9E2E-71A5-0B9B-0260D0B93478}"/>
              </a:ext>
            </a:extLst>
          </p:cNvPr>
          <p:cNvSpPr txBox="1"/>
          <p:nvPr/>
        </p:nvSpPr>
        <p:spPr>
          <a:xfrm>
            <a:off x="548327" y="541625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Strike Rate Analysis (Top Batsmen)</a:t>
            </a:r>
            <a:endParaRPr lang="en-IN" sz="20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2D1E1B-3CF5-9CBE-0489-663417DBD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68924"/>
            <a:ext cx="11277600" cy="494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278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CAE989-FB8E-17F2-4E50-EEDBA91BE800}"/>
              </a:ext>
            </a:extLst>
          </p:cNvPr>
          <p:cNvSpPr txBox="1"/>
          <p:nvPr/>
        </p:nvSpPr>
        <p:spPr>
          <a:xfrm>
            <a:off x="598969" y="611333"/>
            <a:ext cx="1015062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plot was used:</a:t>
            </a:r>
          </a:p>
          <a:p>
            <a:r>
              <a:rPr lang="en-US" sz="2400" dirty="0"/>
              <a:t>A bar chart was used to analyze the strike rate of top batsmen to understand their scoring efficiency.</a:t>
            </a:r>
          </a:p>
          <a:p>
            <a:endParaRPr lang="en-US" sz="2400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Some batsmen have significantly higher strike rates compared to others, indicating faster scoring ability.</a:t>
            </a:r>
          </a:p>
          <a:p>
            <a:endParaRPr lang="en-US" sz="2400" dirty="0"/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A higher strike rate reflects aggressive batting style and the ability to score runs quickly, which is crucial in T20 format matches like IPL.</a:t>
            </a:r>
          </a:p>
          <a:p>
            <a:endParaRPr lang="en-US" sz="2400" dirty="0"/>
          </a:p>
          <a:p>
            <a:r>
              <a:rPr lang="en-US" sz="2800" b="1" dirty="0"/>
              <a:t>Conclusion:</a:t>
            </a:r>
          </a:p>
          <a:p>
            <a:r>
              <a:rPr lang="en-US" sz="2400" dirty="0"/>
              <a:t>Strike rate analysis highlights not just consistency in scoring but also scoring efficiency, which plays a vital role in match outcomes.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4741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D76355-8596-0613-240A-5D1CA5B7FBB3}"/>
              </a:ext>
            </a:extLst>
          </p:cNvPr>
          <p:cNvSpPr txBox="1"/>
          <p:nvPr/>
        </p:nvSpPr>
        <p:spPr>
          <a:xfrm>
            <a:off x="1227842" y="505833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Venue Performance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DFFE17-0E9A-378E-22B8-A41CBA9F0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85206"/>
            <a:ext cx="11277600" cy="49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604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49DD9-73CA-B1BA-1BD3-4CD9FDCEB1C5}"/>
              </a:ext>
            </a:extLst>
          </p:cNvPr>
          <p:cNvSpPr txBox="1"/>
          <p:nvPr/>
        </p:nvSpPr>
        <p:spPr>
          <a:xfrm>
            <a:off x="357171" y="458956"/>
            <a:ext cx="1048511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Why this plot was used:</a:t>
            </a:r>
          </a:p>
          <a:p>
            <a:r>
              <a:rPr lang="en-US" sz="2400" dirty="0"/>
              <a:t>A bar chart was used to analyze total runs scored across different venues to understand how match performance varies by location.</a:t>
            </a:r>
          </a:p>
          <a:p>
            <a:endParaRPr lang="en-US" sz="2400" dirty="0"/>
          </a:p>
          <a:p>
            <a:r>
              <a:rPr lang="en-US" sz="2800" b="1" dirty="0"/>
              <a:t>Observation:</a:t>
            </a:r>
          </a:p>
          <a:p>
            <a:r>
              <a:rPr lang="en-US" sz="2400" dirty="0"/>
              <a:t>Some venues have significantly higher total runs compared to others, indicating higher scoring matches at those locations.</a:t>
            </a:r>
          </a:p>
          <a:p>
            <a:endParaRPr lang="en-US" sz="2400" dirty="0"/>
          </a:p>
          <a:p>
            <a:r>
              <a:rPr lang="en-US" sz="2800" b="1" dirty="0"/>
              <a:t>Insight:</a:t>
            </a:r>
          </a:p>
          <a:p>
            <a:r>
              <a:rPr lang="en-US" sz="2400" dirty="0"/>
              <a:t>This suggests that certain venues are more batting-friendly, possibly due to pitch conditions, ground dimensions, or environmental factors.</a:t>
            </a:r>
          </a:p>
          <a:p>
            <a:endParaRPr lang="en-US" sz="2800" dirty="0"/>
          </a:p>
          <a:p>
            <a:r>
              <a:rPr lang="en-US" sz="2800" b="1" dirty="0"/>
              <a:t>Conclusion:</a:t>
            </a:r>
          </a:p>
          <a:p>
            <a:r>
              <a:rPr lang="en-US" sz="2400" dirty="0"/>
              <a:t>Venue plays an important role in influencing match outcomes and scoring patterns in IPL matches.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0230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6EF00E-4C6C-7B11-711B-FBF0647B28BD}"/>
              </a:ext>
            </a:extLst>
          </p:cNvPr>
          <p:cNvSpPr txBox="1"/>
          <p:nvPr/>
        </p:nvSpPr>
        <p:spPr>
          <a:xfrm>
            <a:off x="943676" y="521305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Powerplay vs Death Overs Analysis</a:t>
            </a:r>
            <a:endParaRPr lang="en-IN" sz="2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E0D3E2-184F-9C5A-9D10-19C2A83E6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1044018"/>
            <a:ext cx="10911840" cy="509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03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235875-E254-69F7-2D5F-4F64956AAA56}"/>
              </a:ext>
            </a:extLst>
          </p:cNvPr>
          <p:cNvSpPr txBox="1"/>
          <p:nvPr/>
        </p:nvSpPr>
        <p:spPr>
          <a:xfrm>
            <a:off x="586452" y="403530"/>
            <a:ext cx="91793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Conclusion</a:t>
            </a:r>
          </a:p>
          <a:p>
            <a:pPr>
              <a:buNone/>
            </a:pPr>
            <a:r>
              <a:rPr lang="en-US" sz="2800" b="1" dirty="0"/>
              <a:t>Final Insights</a:t>
            </a:r>
          </a:p>
          <a:p>
            <a:pPr>
              <a:buNone/>
            </a:pPr>
            <a:endParaRPr lang="en-US" sz="2000" b="1" dirty="0"/>
          </a:p>
          <a:p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28650-E0F8-F6C9-BD6D-D719B4C2DE05}"/>
              </a:ext>
            </a:extLst>
          </p:cNvPr>
          <p:cNvSpPr txBox="1"/>
          <p:nvPr/>
        </p:nvSpPr>
        <p:spPr>
          <a:xfrm>
            <a:off x="586452" y="1577178"/>
            <a:ext cx="105654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IPL ball-by-ball dataset was successfully cleaned and structured for analysis.</a:t>
            </a:r>
          </a:p>
          <a:p>
            <a:endParaRPr lang="en-US" sz="2400" dirty="0"/>
          </a:p>
          <a:p>
            <a:r>
              <a:rPr lang="en-US" sz="2400" dirty="0"/>
              <a:t>Event-based missing values were handled logically without distorting match-level information.</a:t>
            </a:r>
          </a:p>
          <a:p>
            <a:endParaRPr lang="en-US" sz="2400" dirty="0"/>
          </a:p>
          <a:p>
            <a:r>
              <a:rPr lang="en-US" sz="2400" dirty="0"/>
              <a:t>No duplicate records were found, ensuring data integrity.</a:t>
            </a:r>
          </a:p>
          <a:p>
            <a:endParaRPr lang="en-US" sz="2400" dirty="0"/>
          </a:p>
          <a:p>
            <a:r>
              <a:rPr lang="en-US" sz="2400" dirty="0"/>
              <a:t>Outliers were examined and retained as they represent valid cricket scenarios.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3686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65AC6-C5B1-5FEA-7AC6-723AB6582102}"/>
              </a:ext>
            </a:extLst>
          </p:cNvPr>
          <p:cNvSpPr txBox="1"/>
          <p:nvPr/>
        </p:nvSpPr>
        <p:spPr>
          <a:xfrm>
            <a:off x="650449" y="678507"/>
            <a:ext cx="104543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Univariate, bivariate, and multivariate analysis revealed scoring patterns, match-winning trends, and player performance insights.</a:t>
            </a:r>
          </a:p>
          <a:p>
            <a:endParaRPr lang="en-US" sz="2400" dirty="0"/>
          </a:p>
          <a:p>
            <a:r>
              <a:rPr lang="en-US" sz="2400" dirty="0"/>
              <a:t>Aggregation techniques such as </a:t>
            </a:r>
            <a:r>
              <a:rPr lang="en-US" sz="2400" dirty="0" err="1"/>
              <a:t>groupby</a:t>
            </a:r>
            <a:r>
              <a:rPr lang="en-US" sz="2400" dirty="0"/>
              <a:t>() and </a:t>
            </a:r>
            <a:r>
              <a:rPr lang="en-US" sz="2400" dirty="0" err="1"/>
              <a:t>pivot_table</a:t>
            </a:r>
            <a:r>
              <a:rPr lang="en-US" sz="2400" dirty="0"/>
              <a:t>() were used to derive season-level and player-level metrics from event-level data.</a:t>
            </a:r>
          </a:p>
          <a:p>
            <a:endParaRPr lang="en-US" sz="2400" dirty="0"/>
          </a:p>
          <a:p>
            <a:r>
              <a:rPr lang="en-US" sz="2400" dirty="0"/>
              <a:t>The project demonstrates strong understanding of data cleaning, feature interpretation, and structured Python-based Exploratory Data Analysis (EDA).</a:t>
            </a:r>
          </a:p>
          <a:p>
            <a:endParaRPr lang="en-US" sz="2400" dirty="0"/>
          </a:p>
          <a:p>
            <a:r>
              <a:rPr lang="en-US" sz="2400" dirty="0"/>
              <a:t>This analysis reflects the ability to transform raw event data into meaningful analytical insights.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7174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CAB697-E51F-941B-8744-E1FD584A99F3}"/>
              </a:ext>
            </a:extLst>
          </p:cNvPr>
          <p:cNvSpPr txBox="1"/>
          <p:nvPr/>
        </p:nvSpPr>
        <p:spPr>
          <a:xfrm>
            <a:off x="616671" y="851140"/>
            <a:ext cx="10139313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Learnings from the Project</a:t>
            </a:r>
          </a:p>
          <a:p>
            <a:pPr>
              <a:buNone/>
            </a:pP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2400" dirty="0"/>
              <a:t>Learned how to clean real-world structured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Practiced handling missing values and validating outliers.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Applied univariate, bivariate, and multivariate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Used visualization to communicate insights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Understood how to transform raw data into decision-support insights.</a:t>
            </a:r>
          </a:p>
        </p:txBody>
      </p:sp>
    </p:spTree>
    <p:extLst>
      <p:ext uri="{BB962C8B-B14F-4D97-AF65-F5344CB8AC3E}">
        <p14:creationId xmlns:p14="http://schemas.microsoft.com/office/powerpoint/2010/main" val="3350495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54CA-ADFB-315D-7C26-549DA81A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406" y="2601798"/>
            <a:ext cx="10515600" cy="1068519"/>
          </a:xfrm>
        </p:spPr>
        <p:txBody>
          <a:bodyPr>
            <a:noAutofit/>
          </a:bodyPr>
          <a:lstStyle/>
          <a:p>
            <a:r>
              <a:rPr lang="en-IN" sz="9600" dirty="0">
                <a:solidFill>
                  <a:srgbClr val="FF0000"/>
                </a:solidFill>
              </a:rPr>
              <a:t>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27465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3128</Words>
  <Application>Microsoft Office PowerPoint</Application>
  <PresentationFormat>Widescreen</PresentationFormat>
  <Paragraphs>1263</Paragraphs>
  <Slides>49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Lato Black</vt:lpstr>
      <vt:lpstr>Libre Baskerville</vt:lpstr>
      <vt:lpstr>Courier New</vt:lpstr>
      <vt:lpstr>Arial</vt:lpstr>
      <vt:lpstr>Calibri</vt:lpstr>
      <vt:lpstr>Office Theme</vt:lpstr>
      <vt:lpstr>               IPL Data analysis </vt:lpstr>
      <vt:lpstr>MBA graduate with interest in analytics and technology and          Interested in understanding business problems using data </vt:lpstr>
      <vt:lpstr> Introduction to the Speaker Arjun Naluvala Batch No: 477 Data Analytics   Objectives of the Session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Arjun Naluvala</cp:lastModifiedBy>
  <cp:revision>18</cp:revision>
  <dcterms:created xsi:type="dcterms:W3CDTF">2021-02-16T05:19:01Z</dcterms:created>
  <dcterms:modified xsi:type="dcterms:W3CDTF">2026-02-20T19:32:54Z</dcterms:modified>
</cp:coreProperties>
</file>